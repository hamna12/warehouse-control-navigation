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594360"/>
            <a:ext cx="475488" cy="5029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58952"/>
            <a:ext cx="5212080" cy="365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646464"/>
                </a:solidFill>
                <a:latin typeface="Aptos Display"/>
              </a:defRPr>
            </a:pPr>
            <a:r>
              <a:t>WAREHOUSE ROBOTICS  /  FINAL PROJECT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548640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4200" b="1">
                <a:solidFill>
                  <a:srgbClr val="141414"/>
                </a:solidFill>
                <a:latin typeface="Aptos Display"/>
              </a:defRPr>
            </a:pPr>
            <a:r>
              <a:t>CONTROL &amp;</a:t>
            </a:r>
          </a:p>
          <a:p>
            <a:pPr>
              <a:defRPr sz="4200" b="1">
                <a:solidFill>
                  <a:srgbClr val="141414"/>
                </a:solidFill>
                <a:latin typeface="Aptos Display"/>
              </a:defRPr>
            </a:pPr>
            <a:r>
              <a:t>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10712"/>
            <a:ext cx="5074920" cy="868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From robot setup to autonomous</a:t>
            </a:r>
          </a:p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warehouse route following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4608576"/>
            <a:ext cx="4846320" cy="16459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800600"/>
            <a:ext cx="5029200" cy="65836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141414"/>
                </a:solidFill>
                <a:latin typeface="Aptos Display"/>
              </a:defRPr>
            </a:pPr>
            <a:r>
              <a:t>KNOWN MAP  →  ROUTE PLANNING  →  ROBOT 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5029200" cy="2743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646464"/>
                </a:solidFill>
                <a:latin typeface="Aptos Display"/>
              </a:defRPr>
            </a:pPr>
            <a:r>
              <a:t>NVIDIA ISAAC SIM 5.1.0   •   CARTER ROBOT</a:t>
            </a:r>
          </a:p>
        </p:txBody>
      </p:sp>
      <p:pic>
        <p:nvPicPr>
          <p:cNvPr id="9" name="Picture 8" descr="cover_warehouse_rob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932688"/>
            <a:ext cx="5285232" cy="409651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245352" y="5029200"/>
            <a:ext cx="5285232" cy="5029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5257800"/>
            <a:ext cx="52578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646464"/>
                </a:solidFill>
                <a:latin typeface="Aptos Display"/>
              </a:defRPr>
            </a:pPr>
            <a:r>
              <a:t>REAL SIMULATION  /  WAREHOUSE AISLE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55664"/>
            <a:ext cx="41148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646464"/>
                </a:solidFill>
                <a:latin typeface="Aptos Display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38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F0F0F"/>
                </a:solidFill>
                <a:latin typeface="Aptos"/>
              </a:defRPr>
            </a:pPr>
            <a:r>
              <a:t>Our responsibility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What the Control &amp; Navigation team is building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08760"/>
            <a:ext cx="10972800" cy="13716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288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CONTROL &amp; NAVIGATION  •  ISAAC SIM 5.1.0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106070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F0F0F"/>
                </a:solidFill>
                <a:latin typeface="Aptos"/>
              </a:defRPr>
            </a:pPr>
            <a:r>
              <a:t>•  Move the robot toward selected warehouse destinations.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79776"/>
            <a:ext cx="106070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F0F0F"/>
                </a:solidFill>
                <a:latin typeface="Aptos"/>
              </a:defRPr>
            </a:pPr>
            <a:r>
              <a:t>•  Plan routes through free space between storage racks.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39312"/>
            <a:ext cx="106070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F0F0F"/>
                </a:solidFill>
                <a:latin typeface="Aptos"/>
              </a:defRPr>
            </a:pPr>
            <a:r>
              <a:t>•  Control forward speed and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98848"/>
            <a:ext cx="1060704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0">
                <a:solidFill>
                  <a:srgbClr val="0F0F0F"/>
                </a:solidFill>
                <a:latin typeface="Aptos"/>
              </a:defRPr>
            </a:pPr>
            <a:r>
              <a:t>•  Track progress, stop at goals, and manage 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38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F0F0F"/>
                </a:solidFill>
                <a:latin typeface="Aptos"/>
              </a:defRPr>
            </a:pPr>
            <a:r>
              <a:t>Starting point | Warehouse scene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Existing team environment brought into Isaac 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08760"/>
            <a:ext cx="10972800" cy="13716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288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CONTROL &amp; NAVIGATION  •  ISAAC SIM 5.1.0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7" name="Picture 6" descr="image(20261014-18292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6883"/>
            <a:ext cx="7406640" cy="44272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2194560"/>
            <a:ext cx="3337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•  Warehouse racks and aisles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154680"/>
            <a:ext cx="3337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•  Carter robot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114800"/>
            <a:ext cx="3337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•  Physics and movement setup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38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F0F0F"/>
                </a:solidFill>
                <a:latin typeface="Aptos"/>
              </a:defRPr>
            </a:pPr>
            <a:r>
              <a:t>Step 1 | Robot and scene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First: our own robot and movement logic in Isaac Sim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08760"/>
            <a:ext cx="10972800" cy="13716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288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CONTROL &amp; NAVIGATION  •  ISAAC SIM 5.1.0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7" name="Picture 6" descr="image(20261015-07300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783080"/>
            <a:ext cx="7095744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38160" y="2194560"/>
            <a:ext cx="3429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Loaded the warehouse USD scene.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246120"/>
            <a:ext cx="3429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Built our initial robot and tested its movement logic.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297679"/>
            <a:ext cx="3429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Then moved to the MobilityGen/Carter setup for navigation.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38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F0F0F"/>
                </a:solidFill>
                <a:latin typeface="Aptos"/>
              </a:defRPr>
            </a:pPr>
            <a:r>
              <a:t>Step 2 | MobilityGen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Switched from our own robot to MobilityGen/Carter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08760"/>
            <a:ext cx="10972800" cy="13716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288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CONTROL &amp; NAVIGATION  •  ISAAC SIM 5.1.0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05</a:t>
            </a:r>
          </a:p>
        </p:txBody>
      </p:sp>
      <p:pic>
        <p:nvPicPr>
          <p:cNvPr id="7" name="Picture 6" descr="image(20261014-18173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32026"/>
            <a:ext cx="7178040" cy="438266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2148840"/>
            <a:ext cx="356616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Explored NVIDIA MobilityGen and its mobility workflow.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3218688"/>
            <a:ext cx="356616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Integrated the Carter robot setup into our warehouse scene.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4288536"/>
            <a:ext cx="356616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Used the known-map workflow; wrote navigation logic separately.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38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F0F0F"/>
                </a:solidFill>
                <a:latin typeface="Aptos"/>
              </a:defRPr>
            </a:pPr>
            <a:r>
              <a:t>Parallel experiment | ROS 2 + Nav2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Followed the NVIDIA tutorial shared by our team lead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08760"/>
            <a:ext cx="10972800" cy="13716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288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CONTROL &amp; NAVIGATION  •  ISAAC SIM 5.1.0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F0F0F"/>
                </a:solidFill>
                <a:latin typeface="Aptos"/>
              </a:defRPr>
            </a:pPr>
            <a:r>
              <a:t>ISAAC SIM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22199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0F0F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F0F0F"/>
                </a:solidFill>
                <a:latin typeface="Aptos"/>
              </a:defRPr>
            </a:pPr>
            <a:r>
              <a:t>ROS 2 BRIDGE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21992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900" b="0">
                <a:solidFill>
                  <a:srgbClr val="0F0F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24028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F0F0F"/>
                </a:solidFill>
                <a:latin typeface="Aptos"/>
              </a:defRPr>
            </a:pPr>
            <a:r>
              <a:t>NAV2 / RVIZ2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F0F0F"/>
                </a:solidFill>
                <a:latin typeface="Aptos"/>
              </a:defRPr>
            </a:pPr>
            <a:r>
              <a:t>•  Followed the Isaac Sim 5.1.0 ROS 2 Navigation tutorial.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15968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F0F0F"/>
                </a:solidFill>
                <a:latin typeface="Aptos"/>
              </a:defRPr>
            </a:pPr>
            <a:r>
              <a:t>•  Built a separate ROS 2 workspace; displayed the map in RViz2.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74336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F0F0F"/>
                </a:solidFill>
                <a:latin typeface="Aptos"/>
              </a:defRPr>
            </a:pPr>
            <a:r>
              <a:t>•  Attempted ROS 2 bridge and Nav2 navigation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38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F0F0F"/>
                </a:solidFill>
                <a:latin typeface="Aptos"/>
              </a:defRPr>
            </a:pPr>
            <a:r>
              <a:t>ROS 2 setup | Issues encountered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Issues while following the shared NVIDIA ROS 2 tutorial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08760"/>
            <a:ext cx="10972800" cy="13716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288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CONTROL &amp; NAVIGATION  •  ISAAC SIM 5.1.0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070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0F0F0F"/>
                </a:solidFill>
                <a:latin typeface="Aptos"/>
              </a:defRPr>
            </a:pPr>
            <a:r>
              <a:t>•  Isaac Sim and RViz2 together put heavy load on the laptop.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61488"/>
            <a:ext cx="106070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0F0F0F"/>
                </a:solidFill>
                <a:latin typeface="Aptos"/>
              </a:defRPr>
            </a:pPr>
            <a:r>
              <a:t>•  RViz2 froze or became unresponsive during testing.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94176"/>
            <a:ext cx="106070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0F0F0F"/>
                </a:solidFill>
                <a:latin typeface="Aptos"/>
              </a:defRPr>
            </a:pPr>
            <a:r>
              <a:t>•  Intermittent /clock communication issues after restarts.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26864"/>
            <a:ext cx="106070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0">
                <a:solidFill>
                  <a:srgbClr val="0F0F0F"/>
                </a:solidFill>
                <a:latin typeface="Aptos"/>
              </a:defRPr>
            </a:pPr>
            <a:r>
              <a:t>•  End-to-end Nav2 goal navigation was not reliably validated.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779008"/>
            <a:ext cx="10698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0F0F"/>
                </a:solidFill>
                <a:latin typeface="Aptos"/>
              </a:defRPr>
            </a:pPr>
            <a:r>
              <a:t>Decision: keep the ROS 2 experiment separate and demonstrate the working MobilityGen/Carter + custom navigation setup.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38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F0F0F"/>
                </a:solidFill>
                <a:latin typeface="Aptos"/>
              </a:defRPr>
            </a:pPr>
            <a:r>
              <a:t>Current approach | Custom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MobilityGen/Carter robot + our own Python planning and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08760"/>
            <a:ext cx="10972800" cy="13716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288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CONTROL &amp; NAVIGATION  •  ISAAC SIM 5.1.0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0F0F0F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0F0F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 b="1">
                <a:solidFill>
                  <a:srgbClr val="0F0F0F"/>
                </a:solidFill>
                <a:latin typeface="Aptos"/>
              </a:defRPr>
            </a:pPr>
            <a:r>
              <a:t>KNOWN MAP + A*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6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0F0F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031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F0F0F"/>
                </a:solidFill>
                <a:latin typeface="Aptos"/>
              </a:defRPr>
            </a:pPr>
            <a:r>
              <a:t>ROUTE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0">
                <a:solidFill>
                  <a:srgbClr val="0F0F0F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103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700" b="1">
                <a:solidFill>
                  <a:srgbClr val="0F0F0F"/>
                </a:solidFill>
                <a:latin typeface="Aptos"/>
              </a:defRPr>
            </a:pPr>
            <a:r>
              <a:t>CARTER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F0F0F"/>
                </a:solidFill>
                <a:latin typeface="Aptos"/>
              </a:defRPr>
            </a:pPr>
            <a:r>
              <a:t>•  Carter integrated in our warehouse; goals set in our custom panel.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33087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F0F0F"/>
                </a:solidFill>
                <a:latin typeface="Aptos"/>
              </a:defRPr>
            </a:pPr>
            <a:r>
              <a:t>•  Our A* planner and velocity controller handle route and movement.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91456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F0F0F"/>
                </a:solidFill>
                <a:latin typeface="Aptos"/>
              </a:defRPr>
            </a:pPr>
            <a:r>
              <a:t>•  Simulator pose supplies position feedback.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49824"/>
            <a:ext cx="10607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F0F0F"/>
                </a:solidFill>
                <a:latin typeface="Aptos"/>
              </a:defRPr>
            </a:pPr>
            <a:r>
              <a:t>•  Known-map navigation: no live sensing or SLAM.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38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F0F0F"/>
                </a:solidFill>
                <a:latin typeface="Aptos"/>
              </a:defRPr>
            </a:pPr>
            <a:r>
              <a:t>Step 3 | Occupancy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Black = obstacles  •  White = free space  •  Green = planned route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08760"/>
            <a:ext cx="10972800" cy="13716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288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CONTROL &amp; NAVIGATION  •  ISAAC SIM 5.1.0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7" name="Picture 6" descr="image(20261016-05380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1737360"/>
            <a:ext cx="7242048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21040" y="2286000"/>
            <a:ext cx="324612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Racks are represented as blocked regions.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319272"/>
            <a:ext cx="324612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Goals are selected in free space.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4352544"/>
            <a:ext cx="3246120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The planner searches for a navigable route.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38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F0F0F"/>
                </a:solidFill>
                <a:latin typeface="Aptos"/>
              </a:defRPr>
            </a:pPr>
            <a:r>
              <a:t>Step 4 | Navigation control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One interface to plan, move, and monitor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08760"/>
            <a:ext cx="10972800" cy="13716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288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CONTROL &amp; NAVIGATION  •  ISAAC SIM 5.1.0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7" name="Picture 6" descr="image(20261016-06310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5" y="1764792"/>
            <a:ext cx="7242048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1920240"/>
            <a:ext cx="33832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Go to goal / Add waypoint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862072"/>
            <a:ext cx="33832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Run queue / Patrol 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803904"/>
            <a:ext cx="33832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Pause / Resume / Cancel / E-STOP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745736"/>
            <a:ext cx="338328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Position, velocity, and mission status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38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F0F0F"/>
                </a:solidFill>
                <a:latin typeface="Aptos"/>
              </a:defRPr>
            </a:pPr>
            <a:r>
              <a:t>Test 1 | Two-waypoint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Completed: both selected waypoints reached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08760"/>
            <a:ext cx="10972800" cy="13716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288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CONTROL &amp; NAVIGATION  •  ISAAC SIM 5.1.0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7" name="Picture 6" descr="image(20261016-06310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" y="1783080"/>
            <a:ext cx="7139635" cy="44622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0" y="2286000"/>
            <a:ext cx="33375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Robot aligned with the route.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273552"/>
            <a:ext cx="33375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Moved between two short-distance goals.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261104"/>
            <a:ext cx="333756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Controller reported mission success.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38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F0F0F"/>
                </a:solidFill>
                <a:latin typeface="Aptos"/>
              </a:defRPr>
            </a:pPr>
            <a:r>
              <a:t>Test 2 | Longer-distance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Completed: destination Y = 8.0 m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08760"/>
            <a:ext cx="10972800" cy="13716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288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CONTROL &amp; NAVIGATION  •  ISAAC SIM 5.1.0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7" name="Picture 6" descr="image(20261016-06355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" y="1773936"/>
            <a:ext cx="7198156" cy="44988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66760" y="193852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Goal: (0.0, 8.0)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285292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Final pose: approximately (0.0, 7.85)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76732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Status: SUCCEEDED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4681728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0F0F"/>
                </a:solidFill>
                <a:latin typeface="Aptos"/>
              </a:defRPr>
            </a:pPr>
            <a:r>
              <a:t>•  Stopped within about 0.15 m of goal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38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F0F0F"/>
                </a:solidFill>
                <a:latin typeface="Aptos"/>
              </a:defRPr>
            </a:pPr>
            <a:r>
              <a:t>Test 3 | Route between 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Observed: robot following a route with a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08760"/>
            <a:ext cx="10972800" cy="13716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288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CONTROL &amp; NAVIGATION  •  ISAAC SIM 5.1.0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13</a:t>
            </a:r>
          </a:p>
        </p:txBody>
      </p:sp>
      <p:pic>
        <p:nvPicPr>
          <p:cNvPr id="7" name="Picture 6" descr="image(20261016-06413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901" y="1773936"/>
            <a:ext cx="7198156" cy="44988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39327" y="1938528"/>
            <a:ext cx="32004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t>•  Goal placed between storage racks.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9327" y="2880360"/>
            <a:ext cx="32004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t>•  Green route bends around rack geometry.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9327" y="3822191"/>
            <a:ext cx="32004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t>•  Robot observed moving along the route.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7" y="4764024"/>
            <a:ext cx="3200400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0F0F0F"/>
                </a:solidFill>
                <a:latin typeface="Aptos"/>
              </a:defRPr>
            </a:pPr>
            <a:r>
              <a:t>•  Screenshot shows NAVIGATING; arrival not yet verified.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38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F0F0F"/>
                </a:solidFill>
                <a:latin typeface="Aptos"/>
              </a:defRPr>
            </a:pPr>
            <a:r>
              <a:t>What is implemented vs. still to validate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Clear separation between working features and next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08760"/>
            <a:ext cx="10972800" cy="13716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288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CONTROL &amp; NAVIGATION  •  ISAAC SIM 5.1.0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0F0F"/>
                </a:solidFill>
                <a:latin typeface="Aptos"/>
              </a:defRPr>
            </a:pPr>
            <a:r>
              <a:t>IMPLEMENTED / TESTED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14600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•  Goal-based navigation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3273552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•  Two-waypoint mission 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4032504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•  Longer-distance goal completion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4791456"/>
            <a:ext cx="52120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•  Route following between racks (in progress)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47088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0F0F"/>
                </a:solidFill>
                <a:latin typeface="Aptos"/>
              </a:defRPr>
            </a:pPr>
            <a:r>
              <a:t>NEXT TESTS / 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14600"/>
            <a:ext cx="49834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•  Complete multi-aisle mission and patrol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73552"/>
            <a:ext cx="49834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•  Pause, resume, and emergency-stop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032504"/>
            <a:ext cx="49834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•  Live obstacle handling / sensor localization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791456"/>
            <a:ext cx="498348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0">
                <a:solidFill>
                  <a:srgbClr val="0F0F0F"/>
                </a:solidFill>
                <a:latin typeface="Aptos"/>
              </a:defRPr>
            </a:pPr>
            <a:r>
              <a:t>•  Optional ROS 2 Nav2 integration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38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F0F0F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515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0">
                <a:solidFill>
                  <a:srgbClr val="5F5F5F"/>
                </a:solidFill>
                <a:latin typeface="Aptos"/>
              </a:defRPr>
            </a:pPr>
            <a:r>
              <a:t>Control &amp; Navigation team progress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1508760"/>
            <a:ext cx="10972800" cy="13716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288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CONTROL &amp; NAVIGATION  •  ISAAC SIM 5.1.0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10881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0F0F0F"/>
                </a:solidFill>
                <a:latin typeface="Aptos"/>
              </a:defRPr>
            </a:pPr>
            <a:r>
              <a:t>From our own robot → MobilityGen/Carter → tested map-based navigation.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F0F0F"/>
                </a:solidFill>
                <a:latin typeface="Aptos"/>
              </a:defRPr>
            </a:pPr>
            <a:r>
              <a:t>•  Carter receives a goal and follows a planned route.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F0F0F"/>
                </a:solidFill>
                <a:latin typeface="Aptos"/>
              </a:defRPr>
            </a:pPr>
            <a:r>
              <a:t>•  The controller manages movement and tracks progress.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F0F0F"/>
                </a:solidFill>
                <a:latin typeface="Aptos"/>
              </a:defRPr>
            </a:pPr>
            <a:r>
              <a:t>•  Short and long navigation missions have succeeded.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4632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0F0F0F"/>
                </a:solidFill>
                <a:latin typeface="Aptos"/>
              </a:defRPr>
            </a:pPr>
            <a:r>
              <a:t>•  Rack-to-rack routing is being tested in the real warehouse layout.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25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0F0F0F"/>
                </a:solidFill>
                <a:latin typeface="Aptos"/>
              </a:defRPr>
            </a:pPr>
            <a:r>
              <a:t>Final demo scope: custom navigation in Isaac Sim; ROS 2 Nav2 remained a separate experiment.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3832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100" b="1">
                <a:solidFill>
                  <a:srgbClr val="0F0F0F"/>
                </a:solidFill>
                <a:latin typeface="Aptos"/>
              </a:defRPr>
            </a:pPr>
            <a:r>
              <a:t>Reference and technical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508760"/>
            <a:ext cx="10972800" cy="13716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6528816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CONTROL &amp; NAVIGATION  •  ISAAC SIM 5.1.0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50138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F5F5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 b="1">
                <a:solidFill>
                  <a:srgbClr val="0F0F0F"/>
                </a:solidFill>
                <a:latin typeface="Aptos"/>
              </a:defRPr>
            </a:pPr>
            <a:r>
              <a:t>NVIDIA Isaac Sim 5.1.0 — ROS 2 Navigation tutorial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0F0F"/>
                </a:solidFill>
                <a:latin typeface="Aptos"/>
              </a:defRPr>
            </a:pPr>
            <a:r>
              <a:t>https://docs.isaacsim.omniverse.nvidia.com/5.1.0/ros2_tutorials/tutorial_ros2_navigation.html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F0F0F"/>
                </a:solidFill>
                <a:latin typeface="Aptos"/>
              </a:defRPr>
            </a:pPr>
            <a:r>
              <a:t>•  We followed the shared tutorial but encountered RViz, /clock, and performance issues.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F0F0F"/>
                </a:solidFill>
                <a:latin typeface="Aptos"/>
              </a:defRPr>
            </a:pPr>
            <a:r>
              <a:t>•  Current demo: MobilityGen/Carter setup with custom A* and motion control in Isaac Sim.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0F0F0F"/>
                </a:solidFill>
                <a:latin typeface="Aptos"/>
              </a:defRPr>
            </a:pPr>
            <a:r>
              <a:t>•  Current localization is simulator pose, not sensor-based localization.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